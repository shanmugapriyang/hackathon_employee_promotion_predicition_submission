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5" r:id="rId6"/>
    <p:sldId id="266" r:id="rId7"/>
    <p:sldId id="260" r:id="rId8"/>
    <p:sldId id="262" r:id="rId9"/>
    <p:sldId id="264" r:id="rId10"/>
    <p:sldId id="261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CDB4C-BA7A-457B-9215-CB4D244B4A4A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49FC9-BAD8-48FF-8883-8A34771745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0110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CDB4C-BA7A-457B-9215-CB4D244B4A4A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49FC9-BAD8-48FF-8883-8A34771745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170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CDB4C-BA7A-457B-9215-CB4D244B4A4A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49FC9-BAD8-48FF-8883-8A34771745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941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CDB4C-BA7A-457B-9215-CB4D244B4A4A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49FC9-BAD8-48FF-8883-8A34771745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54224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CDB4C-BA7A-457B-9215-CB4D244B4A4A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49FC9-BAD8-48FF-8883-8A34771745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274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CDB4C-BA7A-457B-9215-CB4D244B4A4A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49FC9-BAD8-48FF-8883-8A34771745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8099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CDB4C-BA7A-457B-9215-CB4D244B4A4A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49FC9-BAD8-48FF-8883-8A34771745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45864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CDB4C-BA7A-457B-9215-CB4D244B4A4A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49FC9-BAD8-48FF-8883-8A34771745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863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CDB4C-BA7A-457B-9215-CB4D244B4A4A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49FC9-BAD8-48FF-8883-8A34771745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04169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CDB4C-BA7A-457B-9215-CB4D244B4A4A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49FC9-BAD8-48FF-8883-8A34771745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7131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CDB4C-BA7A-457B-9215-CB4D244B4A4A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49FC9-BAD8-48FF-8883-8A34771745B6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714695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CDB4C-BA7A-457B-9215-CB4D244B4A4A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49FC9-BAD8-48FF-8883-8A34771745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00380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CDB4C-BA7A-457B-9215-CB4D244B4A4A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49FC9-BAD8-48FF-8883-8A34771745B6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376367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CDB4C-BA7A-457B-9215-CB4D244B4A4A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49FC9-BAD8-48FF-8883-8A34771745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1784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CDB4C-BA7A-457B-9215-CB4D244B4A4A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49FC9-BAD8-48FF-8883-8A34771745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64129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CDB4C-BA7A-457B-9215-CB4D244B4A4A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49FC9-BAD8-48FF-8883-8A34771745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338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1CDB4C-BA7A-457B-9215-CB4D244B4A4A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09749FC9-BAD8-48FF-8883-8A34771745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5044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employee-promotion-prediction-fastapi-165135154152.us-east1.run.app/" TargetMode="External"/><Relationship Id="rId2" Type="http://schemas.openxmlformats.org/officeDocument/2006/relationships/hyperlink" Target="https://employee-promotion-prediction-streamlit-165135154152.us-east1.run.app/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github.com/ShanmugapriyanG/Employee_Promotion_Prediction_FastAPI/tree/main" TargetMode="External"/><Relationship Id="rId4" Type="http://schemas.openxmlformats.org/officeDocument/2006/relationships/hyperlink" Target="https://github.com/ShanmugapriyanG/Employee_Promotion_Prediction_Streamlit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E0F67-2F78-274C-90A3-4C700EE133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4462" y="2404534"/>
            <a:ext cx="8689541" cy="1646302"/>
          </a:xfrm>
        </p:spPr>
        <p:txBody>
          <a:bodyPr/>
          <a:lstStyle/>
          <a:p>
            <a:r>
              <a:rPr lang="en-US" sz="3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ML Model - Employee Promotion Prediction  </a:t>
            </a:r>
            <a:br>
              <a:rPr lang="en-US" sz="3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US" sz="3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E29BE5-578E-DC24-93B8-4E52B7249D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15818" y="4667267"/>
            <a:ext cx="3748725" cy="1655762"/>
          </a:xfrm>
        </p:spPr>
        <p:txBody>
          <a:bodyPr/>
          <a:lstStyle/>
          <a:p>
            <a:r>
              <a:rPr lang="en-US" dirty="0"/>
              <a:t>Shanmugapriyan G</a:t>
            </a:r>
          </a:p>
          <a:p>
            <a:r>
              <a:rPr lang="en-US" dirty="0"/>
              <a:t>Jan 03</a:t>
            </a:r>
            <a:r>
              <a:rPr lang="en-US" baseline="30000" dirty="0"/>
              <a:t>rd</a:t>
            </a:r>
            <a:r>
              <a:rPr lang="en-US" dirty="0"/>
              <a:t> 2026</a:t>
            </a:r>
          </a:p>
        </p:txBody>
      </p:sp>
    </p:spTree>
    <p:extLst>
      <p:ext uri="{BB962C8B-B14F-4D97-AF65-F5344CB8AC3E}">
        <p14:creationId xmlns:p14="http://schemas.microsoft.com/office/powerpoint/2010/main" val="1386596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FC2837-D5FF-B834-76D1-E9CACCCAA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>
                <a:latin typeface="+mn-lt"/>
              </a:rPr>
              <a:t>Problem Summary:</a:t>
            </a:r>
            <a:br>
              <a:rPr lang="en-US" sz="3200" dirty="0">
                <a:latin typeface="+mn-lt"/>
              </a:rPr>
            </a:br>
            <a:endParaRPr lang="en-US" sz="3200" dirty="0"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E404E7-82DC-894B-0BEA-D3DBCCC7A4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Predict whether an employee will be promoted based on historical HR data.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Dataset includes: employee demographics, performance metrics, training records, and award history.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Challenge: Imbalanced classes (~91% not promoted vs ~9% promoted).</a:t>
            </a:r>
          </a:p>
          <a:p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58786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9BBD8A-12CF-C0BA-6DFD-C512B0A97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>
                <a:latin typeface="+mn-lt"/>
              </a:rPr>
              <a:t>Approach: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67F3C-5610-B96F-D3B7-69AC54762D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094663"/>
            <a:ext cx="10515600" cy="4668674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lang="en-US" sz="14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Analysis &amp; EDA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 values imputed (mode or 0).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Duplicate rows removed to ensure clean data.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Explored distribution of features (numerical &amp; categorical) and correlation.</a:t>
            </a:r>
          </a:p>
          <a:p>
            <a:pPr marL="0" indent="0">
              <a:buNone/>
            </a:pPr>
            <a:r>
              <a:rPr lang="en-US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Feature Engineering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Binary columns (</a:t>
            </a:r>
            <a:r>
              <a:rPr lang="en-US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KPIs_met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&gt;80%, </a:t>
            </a:r>
            <a:r>
              <a:rPr lang="en-US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awards_won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?) standardized.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Derived features created:</a:t>
            </a:r>
          </a:p>
          <a:p>
            <a:pPr lvl="1"/>
            <a:r>
              <a:rPr lang="en-US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training_efficiency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n-US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performance_index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n-US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kpi_per_training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awards_per_service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n-US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score_times_awards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score_times_kpi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Preparation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Split train/validation sets (80/20).</a:t>
            </a:r>
          </a:p>
          <a:p>
            <a:pPr lvl="1"/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Pipelines:</a:t>
            </a:r>
          </a:p>
          <a:p>
            <a:pPr lvl="2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Numeric features → median imputer</a:t>
            </a:r>
          </a:p>
          <a:p>
            <a:pPr lvl="2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Categorical features → most frequent imputer + one-hot encoding</a:t>
            </a:r>
          </a:p>
          <a:p>
            <a:pPr marL="457200" lvl="1" indent="0">
              <a:buNone/>
            </a:pP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1045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4A7CE-38EA-9C02-0E9C-28E399159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 dirty="0">
                <a:latin typeface="+mn-lt"/>
              </a:rPr>
              <a:t>Model Development &amp; Evaluation</a:t>
            </a:r>
            <a:br>
              <a:rPr lang="en-US" b="1" dirty="0">
                <a:latin typeface="+mn-lt"/>
              </a:rPr>
            </a:br>
            <a:endParaRPr lang="en-US" dirty="0"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86EB9C-C038-5166-448F-292976D6EE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85740"/>
            <a:ext cx="10515600" cy="4791223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Modeling Approach: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Considered models: Logistic Regression, Random Forest, AdaBoost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Final model: </a:t>
            </a:r>
            <a:r>
              <a:rPr lang="en-US" sz="16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XGBoost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(best F1 score on validation). </a:t>
            </a:r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Refer the next slides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buNone/>
            </a:pPr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Handling Class Imbalance: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SMOTE oversampling to balance minority </a:t>
            </a:r>
            <a:r>
              <a:rPr lang="en-US" sz="16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class (~60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% of majority).</a:t>
            </a:r>
          </a:p>
          <a:p>
            <a:pPr marL="0" indent="0">
              <a:buNone/>
            </a:pPr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Threshold Tuning: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Predicted probabilities converted to binary labels.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Thresholds 0.1–0.9 to maximize F1.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Best threshold captured in model artifact for deployment.</a:t>
            </a:r>
          </a:p>
          <a:p>
            <a:pPr marL="0" indent="0">
              <a:buNone/>
            </a:pPr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Evaluation: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Validation F1-score reported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Predictions on test set saved to submission.csv</a:t>
            </a:r>
          </a:p>
          <a:p>
            <a:pPr marL="0" indent="0">
              <a:buNone/>
            </a:pPr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Note: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Instead of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GridSearchCV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we manually tuned the probability threshold (0.1–0.9) to maximize F1 score, because </a:t>
            </a:r>
          </a:p>
          <a:p>
            <a:pPr marL="0" indent="0">
              <a:buNone/>
            </a:pP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hyperparameter search didn’t improve performance in our case. 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Custom threshold tuning outperformed default 0.5</a:t>
            </a:r>
          </a:p>
          <a:p>
            <a:pPr marL="0" indent="0">
              <a:buNone/>
            </a:pP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24193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89973-F249-AAD5-DB08-E1B2AA308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 score of Different Models: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107557-2628-962B-1737-2C8E6B835E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XGBoost</a:t>
            </a:r>
            <a:endParaRPr lang="en-US" dirty="0"/>
          </a:p>
        </p:txBody>
      </p:sp>
      <p:pic>
        <p:nvPicPr>
          <p:cNvPr id="8" name="Content Placeholder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DE97BB4-92AC-226A-1487-3D810913086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76275" y="3261660"/>
            <a:ext cx="4184650" cy="2255555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23CB6E-B131-7A17-C3B0-60E93B21EE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Random Forest</a:t>
            </a:r>
          </a:p>
        </p:txBody>
      </p:sp>
      <p:pic>
        <p:nvPicPr>
          <p:cNvPr id="10" name="Content Placeholder 9" descr="A screenshot of a computer">
            <a:extLst>
              <a:ext uri="{FF2B5EF4-FFF2-40B4-BE49-F238E27FC236}">
                <a16:creationId xmlns:a16="http://schemas.microsoft.com/office/drawing/2014/main" id="{D96A6F6B-AF8C-96C9-6E58-863623324287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5087938" y="3261252"/>
            <a:ext cx="4186237" cy="2256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72063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B3F201-CD5B-8D1E-1F1A-60E247EB38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AdaBoost</a:t>
            </a:r>
          </a:p>
        </p:txBody>
      </p:sp>
      <p:pic>
        <p:nvPicPr>
          <p:cNvPr id="8" name="Content Placeholder 7" descr="A screenshot of a computer">
            <a:extLst>
              <a:ext uri="{FF2B5EF4-FFF2-40B4-BE49-F238E27FC236}">
                <a16:creationId xmlns:a16="http://schemas.microsoft.com/office/drawing/2014/main" id="{76FE048A-3BCC-01BC-7F8D-1E4E24B8F2A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76275" y="3109309"/>
            <a:ext cx="4184650" cy="2560257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9808CD-75BC-E5B6-03B4-CA68E4B880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Logistic Regression</a:t>
            </a:r>
          </a:p>
        </p:txBody>
      </p:sp>
      <p:pic>
        <p:nvPicPr>
          <p:cNvPr id="10" name="Content Placeholder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E7E4454-4564-6151-8694-C208915F1B9B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5087938" y="3184309"/>
            <a:ext cx="4186237" cy="2410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12771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3EC6B-C476-B0AC-E7D1-2A6A37F1A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 dirty="0">
                <a:latin typeface="+mn-lt"/>
              </a:rPr>
              <a:t>Deployment</a:t>
            </a:r>
            <a:r>
              <a:rPr lang="en-US" b="1" dirty="0">
                <a:latin typeface="+mn-lt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7CA34-682E-8D8A-1F6A-7392657EB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515600" cy="48021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Streamlit</a:t>
            </a:r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UI: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Dropdowns, sliders, numeric inputs for employee features</a:t>
            </a:r>
          </a:p>
          <a:p>
            <a:pPr lvl="1"/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Predict button calculates promotion probability and displays status.</a:t>
            </a:r>
          </a:p>
          <a:p>
            <a:pPr marL="457200" lvl="1" indent="0">
              <a:buNone/>
            </a:pP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6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FastAPI</a:t>
            </a:r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API: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/predict endpoint for external integration</a:t>
            </a:r>
          </a:p>
          <a:p>
            <a:pPr lvl="1"/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Uses </a:t>
            </a:r>
            <a:r>
              <a:rPr lang="en-US" sz="16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Pydantic</a:t>
            </a:r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aliases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to handle special characters in features (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KPIs_met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&gt;80%,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awards_won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?)</a:t>
            </a:r>
          </a:p>
          <a:p>
            <a:pPr marL="457200" lvl="1" indent="0">
              <a:buNone/>
            </a:pP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 Storage: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Saved via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joblib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as artifact containing:</a:t>
            </a:r>
          </a:p>
          <a:p>
            <a:pPr lvl="1"/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Trained pipeline</a:t>
            </a:r>
          </a:p>
          <a:p>
            <a:pPr lvl="1"/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Best probability threshold</a:t>
            </a:r>
          </a:p>
          <a:p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31890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25DFD-E848-1D5E-BB1B-58067463D3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983" y="0"/>
            <a:ext cx="8596668" cy="1826581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Deployed Links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EC9748-2F4D-2634-18E6-BDEB402B02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71982" y="2283867"/>
            <a:ext cx="10832793" cy="2747553"/>
          </a:xfrm>
        </p:spPr>
        <p:txBody>
          <a:bodyPr>
            <a:noAutofit/>
          </a:bodyPr>
          <a:lstStyle/>
          <a:p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GCP </a:t>
            </a:r>
            <a:r>
              <a:rPr lang="en-US" sz="16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Streamlit</a:t>
            </a:r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Link 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/>
              </a:rPr>
              <a:t>https://employee-promotion-prediction-streamlit-165135154152.us-east1.run.app/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GCP </a:t>
            </a:r>
            <a:r>
              <a:rPr lang="en-US" sz="16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FastAPI</a:t>
            </a:r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Link 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https://employee-promotion-prediction-fastapi-165135154152.us-east1.run.app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6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Github</a:t>
            </a:r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Streamlit</a:t>
            </a:r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Link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4"/>
              </a:rPr>
              <a:t>https://github.com/ShanmugapriyanG/Employee_Promotion_Prediction_Streamlit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6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Github</a:t>
            </a:r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FastAPI</a:t>
            </a:r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Link 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5"/>
              </a:rPr>
              <a:t>https://github.com/ShanmugapriyanG/Employee_Promotion_Prediction_FastAPI/tree/main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34474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86D2D-4FAA-1365-A5CF-BEF994A13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Screenshots:</a:t>
            </a:r>
          </a:p>
        </p:txBody>
      </p:sp>
      <p:pic>
        <p:nvPicPr>
          <p:cNvPr id="6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D6A1973-8A5F-B6FF-83FE-36F882D6B82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311084" y="2394408"/>
            <a:ext cx="4813365" cy="3516198"/>
          </a:xfrm>
          <a:prstGeom prst="rect">
            <a:avLst/>
          </a:prstGeom>
        </p:spPr>
      </p:pic>
      <p:pic>
        <p:nvPicPr>
          <p:cNvPr id="8" name="Content Placeholder 7" descr="A screenshot of a computer">
            <a:extLst>
              <a:ext uri="{FF2B5EF4-FFF2-40B4-BE49-F238E27FC236}">
                <a16:creationId xmlns:a16="http://schemas.microsoft.com/office/drawing/2014/main" id="{95FE9090-750E-D0CB-8845-59718AAF77F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353050" y="2394408"/>
            <a:ext cx="5610225" cy="3516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46600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62422-48AF-626D-146F-DEF143B3D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 dirty="0">
                <a:latin typeface="+mn-lt"/>
              </a:rPr>
              <a:t>Findings &amp; Recommendations</a:t>
            </a:r>
            <a:r>
              <a:rPr lang="en-US" b="1" dirty="0"/>
              <a:t>: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EC2668-CC1D-78F1-34CF-91BF80ED59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Strong predictors of promotion: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avg_training_score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KPIs_met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&gt;80%,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awards_won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Interaction/Derived features improved model performance.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Future improvements - Evaluate additional algorithms (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LightGBM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CatBoost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0" indent="0">
              <a:buNone/>
            </a:pPr>
            <a:endParaRPr lang="en-US" sz="1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Conclusion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0" indent="0">
              <a:buNone/>
            </a:pP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By creating meaningful features, handling class imbalance, using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XGBoost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fine-tuning the prediction threshold, I built a model that can reliably predict which employees are likely to be promoted.</a:t>
            </a:r>
          </a:p>
          <a:p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0410646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27</TotalTime>
  <Words>525</Words>
  <Application>Microsoft Office PowerPoint</Application>
  <PresentationFormat>Widescreen</PresentationFormat>
  <Paragraphs>78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Trebuchet MS</vt:lpstr>
      <vt:lpstr>Wingdings 3</vt:lpstr>
      <vt:lpstr>Facet</vt:lpstr>
      <vt:lpstr>ML Model - Employee Promotion Prediction   </vt:lpstr>
      <vt:lpstr>Problem Summary: </vt:lpstr>
      <vt:lpstr>Approach:</vt:lpstr>
      <vt:lpstr>Model Development &amp; Evaluation </vt:lpstr>
      <vt:lpstr>Comparison score of Different Models:</vt:lpstr>
      <vt:lpstr>PowerPoint Presentation</vt:lpstr>
      <vt:lpstr>Deployment </vt:lpstr>
      <vt:lpstr>Deployed Links</vt:lpstr>
      <vt:lpstr>Screenshots:</vt:lpstr>
      <vt:lpstr>Findings &amp; Recommendations: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shan123.gym@gmail.com</dc:creator>
  <cp:lastModifiedBy>shan123.gym@gmail.com</cp:lastModifiedBy>
  <cp:revision>7</cp:revision>
  <dcterms:created xsi:type="dcterms:W3CDTF">2026-01-04T02:35:32Z</dcterms:created>
  <dcterms:modified xsi:type="dcterms:W3CDTF">2026-01-04T14:29:13Z</dcterms:modified>
</cp:coreProperties>
</file>